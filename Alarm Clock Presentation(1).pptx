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57" r:id="rId3"/>
    <p:sldId id="305" r:id="rId4"/>
    <p:sldId id="304" r:id="rId5"/>
    <p:sldId id="303" r:id="rId6"/>
    <p:sldId id="261" r:id="rId7"/>
    <p:sldId id="299" r:id="rId8"/>
    <p:sldId id="300" r:id="rId9"/>
    <p:sldId id="297" r:id="rId10"/>
    <p:sldId id="301" r:id="rId11"/>
    <p:sldId id="306" r:id="rId12"/>
    <p:sldId id="302" r:id="rId13"/>
  </p:sldIdLst>
  <p:sldSz cx="9144000" cy="5143500" type="screen16x9"/>
  <p:notesSz cx="6858000" cy="9144000"/>
  <p:embeddedFontLst>
    <p:embeddedFont>
      <p:font typeface="Bahnschrift Light" panose="020B0502040204020203" pitchFamily="34" charset="0"/>
      <p:regular r:id="rId15"/>
    </p:embeddedFont>
    <p:embeddedFont>
      <p:font typeface="Quicksan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E042EE-030E-48AD-AEE1-48DBF1C2F338}">
  <a:tblStyle styleId="{8CE042EE-030E-48AD-AEE1-48DBF1C2F3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71A6B3E-507F-4017-96D8-7895C4FAF28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4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5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642707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19175" y="2233519"/>
            <a:ext cx="6680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cxnSp>
        <p:nvCxnSpPr>
          <p:cNvPr id="11" name="Google Shape;11;p2"/>
          <p:cNvCxnSpPr>
            <a:stCxn id="12" idx="4"/>
          </p:cNvCxnSpPr>
          <p:nvPr/>
        </p:nvCxnSpPr>
        <p:spPr>
          <a:xfrm>
            <a:off x="939750" y="2832475"/>
            <a:ext cx="0" cy="23109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;p2"/>
          <p:cNvSpPr/>
          <p:nvPr/>
        </p:nvSpPr>
        <p:spPr>
          <a:xfrm>
            <a:off x="845250" y="2643475"/>
            <a:ext cx="189000" cy="189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165475" y="549649"/>
            <a:ext cx="6858000" cy="3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165498" y="1086799"/>
            <a:ext cx="68580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Quicksand"/>
              <a:buChar char="◦"/>
              <a:defRPr sz="30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Quicksand"/>
              <a:buChar char="▫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Quicksand"/>
              <a:buChar char="■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●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○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■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●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○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■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945638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Google Shape;30;p5"/>
          <p:cNvSpPr/>
          <p:nvPr/>
        </p:nvSpPr>
        <p:spPr>
          <a:xfrm>
            <a:off x="874396" y="605794"/>
            <a:ext cx="142500" cy="1425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844675" y="1400721"/>
            <a:ext cx="201900" cy="20190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1165475" y="549649"/>
            <a:ext cx="6858000" cy="3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1165475" y="1174117"/>
            <a:ext cx="33069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◦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4671570" y="1174117"/>
            <a:ext cx="33069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◦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7" name="Google Shape;37;p6"/>
          <p:cNvCxnSpPr/>
          <p:nvPr/>
        </p:nvCxnSpPr>
        <p:spPr>
          <a:xfrm>
            <a:off x="945638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38;p6"/>
          <p:cNvSpPr/>
          <p:nvPr/>
        </p:nvSpPr>
        <p:spPr>
          <a:xfrm>
            <a:off x="874396" y="605794"/>
            <a:ext cx="142500" cy="1425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844675" y="1400721"/>
            <a:ext cx="201900" cy="20190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key color">
  <p:cSld name="BLANK_1">
    <p:bg>
      <p:bgPr>
        <a:solidFill>
          <a:schemeClr val="accen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11"/>
          <p:cNvCxnSpPr/>
          <p:nvPr/>
        </p:nvCxnSpPr>
        <p:spPr>
          <a:xfrm>
            <a:off x="945638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" name="Google Shape;66;p11"/>
          <p:cNvSpPr/>
          <p:nvPr/>
        </p:nvSpPr>
        <p:spPr>
          <a:xfrm>
            <a:off x="844675" y="2470800"/>
            <a:ext cx="201900" cy="2019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65475" y="549649"/>
            <a:ext cx="68580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icksand"/>
              <a:buNone/>
              <a:defRPr sz="18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icksand"/>
              <a:buNone/>
              <a:defRPr sz="18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icksand"/>
              <a:buNone/>
              <a:defRPr sz="18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icksand"/>
              <a:buNone/>
              <a:defRPr sz="18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icksand"/>
              <a:buNone/>
              <a:defRPr sz="18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icksand"/>
              <a:buNone/>
              <a:defRPr sz="18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icksand"/>
              <a:buNone/>
              <a:defRPr sz="18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icksand"/>
              <a:buNone/>
              <a:defRPr sz="18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icksand"/>
              <a:buNone/>
              <a:defRPr sz="18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65498" y="1086799"/>
            <a:ext cx="68580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"/>
              <a:buChar char="◦"/>
              <a:defRPr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"/>
              <a:buChar char="▫"/>
              <a:defRPr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"/>
              <a:buChar char="■"/>
              <a:defRPr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  <a:defRPr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○"/>
              <a:defRPr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■"/>
              <a:defRPr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  <a:defRPr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○"/>
              <a:defRPr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■"/>
              <a:defRPr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2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r">
              <a:buNone/>
              <a:defRPr sz="12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r">
              <a:buNone/>
              <a:defRPr sz="12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r">
              <a:buNone/>
              <a:defRPr sz="12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r">
              <a:buNone/>
              <a:defRPr sz="12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r">
              <a:buNone/>
              <a:defRPr sz="12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r">
              <a:buNone/>
              <a:defRPr sz="12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r">
              <a:buNone/>
              <a:defRPr sz="12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r">
              <a:buNone/>
              <a:defRPr sz="1200"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7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1198672" y="1935806"/>
            <a:ext cx="5443132" cy="14666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1" dirty="0">
                <a:latin typeface="Calibri" panose="020F0502020204030204" pitchFamily="34" charset="0"/>
                <a:cs typeface="Mangal" panose="02040503050203030202" pitchFamily="18" charset="0"/>
              </a:rPr>
              <a:t>CLOCK GENERATOR WITH ALARM</a:t>
            </a:r>
            <a:endParaRPr lang="en-IN" sz="4400" b="1" dirty="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1165475" y="604610"/>
            <a:ext cx="6858000" cy="3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FEATURES</a:t>
            </a:r>
            <a:endParaRPr sz="2400"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651000" y="1329267"/>
            <a:ext cx="5054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Clock generation.</a:t>
            </a: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ü"/>
            </a:pPr>
            <a:endParaRPr lang="en-US" sz="1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Initializing clock time to a particular value.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Setting time for alarm.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Enabling and disabling alarm.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Stopping alarm.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1165475" y="604610"/>
            <a:ext cx="6858000" cy="3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BLOCK DIAGRAM</a:t>
            </a:r>
            <a:endParaRPr sz="2400"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grpSp>
        <p:nvGrpSpPr>
          <p:cNvPr id="4" name="Group 3"/>
          <p:cNvGrpSpPr/>
          <p:nvPr/>
        </p:nvGrpSpPr>
        <p:grpSpPr>
          <a:xfrm>
            <a:off x="2749327" y="1644600"/>
            <a:ext cx="4810355" cy="2395552"/>
            <a:chOff x="2749327" y="1644600"/>
            <a:chExt cx="4810355" cy="2395552"/>
          </a:xfrm>
        </p:grpSpPr>
        <p:sp>
          <p:nvSpPr>
            <p:cNvPr id="2" name="Rectangle 1"/>
            <p:cNvSpPr/>
            <p:nvPr/>
          </p:nvSpPr>
          <p:spPr>
            <a:xfrm>
              <a:off x="4771932" y="1665171"/>
              <a:ext cx="1559292" cy="230043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810432" y="2630724"/>
              <a:ext cx="1640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Bahnschrift Light" pitchFamily="34" charset="0"/>
                </a:rPr>
                <a:t>Alarm Clock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98405" y="1644600"/>
              <a:ext cx="820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 Light" pitchFamily="34" charset="0"/>
                </a:rPr>
                <a:t>reset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98405" y="1863911"/>
              <a:ext cx="820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Bahnschrift Light" pitchFamily="34" charset="0"/>
                </a:rPr>
                <a:t>clk</a:t>
              </a:r>
              <a:endParaRPr lang="en-US" sz="12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43474" y="2089920"/>
              <a:ext cx="820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 Light" pitchFamily="34" charset="0"/>
                </a:rPr>
                <a:t>H_in1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43474" y="2339267"/>
              <a:ext cx="820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 Light" pitchFamily="34" charset="0"/>
                </a:rPr>
                <a:t>H_in0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43474" y="2588614"/>
              <a:ext cx="820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 Light" pitchFamily="34" charset="0"/>
                </a:rPr>
                <a:t>M_in1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43474" y="2837961"/>
              <a:ext cx="820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 Light" pitchFamily="34" charset="0"/>
                </a:rPr>
                <a:t>M_in0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758141" y="3081086"/>
              <a:ext cx="820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Bahnschrift Light" pitchFamily="34" charset="0"/>
                </a:rPr>
                <a:t>LD_time</a:t>
              </a:r>
              <a:endParaRPr lang="en-US" sz="12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58141" y="3308442"/>
              <a:ext cx="11145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Bahnschrift Light" pitchFamily="34" charset="0"/>
                </a:rPr>
                <a:t>LD_alarm</a:t>
              </a:r>
              <a:endParaRPr lang="en-US" sz="12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58141" y="3535798"/>
              <a:ext cx="820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Bahnschrift Light" pitchFamily="34" charset="0"/>
                </a:rPr>
                <a:t>STOP_al</a:t>
              </a:r>
              <a:endParaRPr lang="en-US" sz="12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749327" y="3763153"/>
              <a:ext cx="820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Bahnschrift Light" pitchFamily="34" charset="0"/>
                </a:rPr>
                <a:t>AL_ON</a:t>
              </a:r>
            </a:p>
          </p:txBody>
        </p:sp>
        <p:cxnSp>
          <p:nvCxnSpPr>
            <p:cNvPr id="6" name="Straight Arrow Connector 5"/>
            <p:cNvCxnSpPr>
              <a:stCxn id="8" idx="3"/>
            </p:cNvCxnSpPr>
            <p:nvPr/>
          </p:nvCxnSpPr>
          <p:spPr>
            <a:xfrm flipV="1">
              <a:off x="3618689" y="1783099"/>
              <a:ext cx="11532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3"/>
            </p:cNvCxnSpPr>
            <p:nvPr/>
          </p:nvCxnSpPr>
          <p:spPr>
            <a:xfrm flipV="1">
              <a:off x="3618689" y="2002410"/>
              <a:ext cx="11532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0" idx="3"/>
            </p:cNvCxnSpPr>
            <p:nvPr/>
          </p:nvCxnSpPr>
          <p:spPr>
            <a:xfrm flipV="1">
              <a:off x="4363758" y="2228419"/>
              <a:ext cx="408174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1" idx="3"/>
            </p:cNvCxnSpPr>
            <p:nvPr/>
          </p:nvCxnSpPr>
          <p:spPr>
            <a:xfrm flipV="1">
              <a:off x="4363758" y="2477766"/>
              <a:ext cx="408174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2" idx="3"/>
            </p:cNvCxnSpPr>
            <p:nvPr/>
          </p:nvCxnSpPr>
          <p:spPr>
            <a:xfrm>
              <a:off x="4363758" y="2727114"/>
              <a:ext cx="40817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V="1">
              <a:off x="4363758" y="2976460"/>
              <a:ext cx="408174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3618688" y="3237525"/>
              <a:ext cx="11532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V="1">
              <a:off x="3618687" y="3446941"/>
              <a:ext cx="11532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3610670" y="3674296"/>
              <a:ext cx="11532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3588219" y="3901651"/>
              <a:ext cx="11532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Group 69"/>
            <p:cNvGrpSpPr/>
            <p:nvPr/>
          </p:nvGrpSpPr>
          <p:grpSpPr>
            <a:xfrm>
              <a:off x="6331224" y="2762948"/>
              <a:ext cx="1228458" cy="276999"/>
              <a:chOff x="5611529" y="2725763"/>
              <a:chExt cx="1228458" cy="276999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6019703" y="2725763"/>
                <a:ext cx="8202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Bahnschrift Light" pitchFamily="34" charset="0"/>
                  </a:rPr>
                  <a:t>M_out1</a:t>
                </a:r>
              </a:p>
            </p:txBody>
          </p:sp>
          <p:cxnSp>
            <p:nvCxnSpPr>
              <p:cNvPr id="46" name="Straight Arrow Connector 45"/>
              <p:cNvCxnSpPr/>
              <p:nvPr/>
            </p:nvCxnSpPr>
            <p:spPr>
              <a:xfrm flipV="1">
                <a:off x="5611529" y="2866459"/>
                <a:ext cx="408174" cy="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/>
            <p:cNvGrpSpPr/>
            <p:nvPr/>
          </p:nvGrpSpPr>
          <p:grpSpPr>
            <a:xfrm>
              <a:off x="6331224" y="2999900"/>
              <a:ext cx="1228458" cy="276999"/>
              <a:chOff x="5611529" y="2975110"/>
              <a:chExt cx="1228458" cy="276999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6019703" y="2975110"/>
                <a:ext cx="8202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Bahnschrift Light" pitchFamily="34" charset="0"/>
                  </a:rPr>
                  <a:t>M_out0</a:t>
                </a:r>
              </a:p>
            </p:txBody>
          </p:sp>
          <p:cxnSp>
            <p:nvCxnSpPr>
              <p:cNvPr id="47" name="Straight Arrow Connector 46"/>
              <p:cNvCxnSpPr/>
              <p:nvPr/>
            </p:nvCxnSpPr>
            <p:spPr>
              <a:xfrm flipV="1">
                <a:off x="5611529" y="3105959"/>
                <a:ext cx="408174" cy="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/>
            <p:cNvGrpSpPr/>
            <p:nvPr/>
          </p:nvGrpSpPr>
          <p:grpSpPr>
            <a:xfrm>
              <a:off x="6331224" y="3236852"/>
              <a:ext cx="1228458" cy="276999"/>
              <a:chOff x="5611529" y="3224457"/>
              <a:chExt cx="1228458" cy="276999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6019703" y="3224457"/>
                <a:ext cx="8202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Bahnschrift Light" pitchFamily="34" charset="0"/>
                  </a:rPr>
                  <a:t>S_out1</a:t>
                </a:r>
              </a:p>
            </p:txBody>
          </p:sp>
          <p:cxnSp>
            <p:nvCxnSpPr>
              <p:cNvPr id="48" name="Straight Arrow Connector 47"/>
              <p:cNvCxnSpPr/>
              <p:nvPr/>
            </p:nvCxnSpPr>
            <p:spPr>
              <a:xfrm>
                <a:off x="5611529" y="3345459"/>
                <a:ext cx="40817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oup 72"/>
            <p:cNvGrpSpPr/>
            <p:nvPr/>
          </p:nvGrpSpPr>
          <p:grpSpPr>
            <a:xfrm>
              <a:off x="6331224" y="3448403"/>
              <a:ext cx="1228458" cy="276999"/>
              <a:chOff x="5611529" y="3439936"/>
              <a:chExt cx="1228458" cy="276999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6019703" y="3439936"/>
                <a:ext cx="8202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Bahnschrift Light" pitchFamily="34" charset="0"/>
                  </a:rPr>
                  <a:t>S_out0</a:t>
                </a:r>
              </a:p>
            </p:txBody>
          </p:sp>
          <p:cxnSp>
            <p:nvCxnSpPr>
              <p:cNvPr id="49" name="Straight Arrow Connector 48"/>
              <p:cNvCxnSpPr/>
              <p:nvPr/>
            </p:nvCxnSpPr>
            <p:spPr>
              <a:xfrm flipV="1">
                <a:off x="5611529" y="3584959"/>
                <a:ext cx="408174" cy="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6331224" y="2289044"/>
              <a:ext cx="1228458" cy="276999"/>
              <a:chOff x="5611529" y="2289044"/>
              <a:chExt cx="1228458" cy="276999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6019703" y="2289044"/>
                <a:ext cx="8202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Bahnschrift Light" pitchFamily="34" charset="0"/>
                  </a:rPr>
                  <a:t>H_out1</a:t>
                </a:r>
              </a:p>
            </p:txBody>
          </p:sp>
          <p:cxnSp>
            <p:nvCxnSpPr>
              <p:cNvPr id="52" name="Straight Arrow Connector 51"/>
              <p:cNvCxnSpPr/>
              <p:nvPr/>
            </p:nvCxnSpPr>
            <p:spPr>
              <a:xfrm>
                <a:off x="5611529" y="2410046"/>
                <a:ext cx="40817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6331224" y="2525996"/>
              <a:ext cx="1228458" cy="276999"/>
              <a:chOff x="5611529" y="2538391"/>
              <a:chExt cx="1228458" cy="276999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6019703" y="2538391"/>
                <a:ext cx="8202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Bahnschrift Light" pitchFamily="34" charset="0"/>
                  </a:rPr>
                  <a:t>H_out0</a:t>
                </a:r>
              </a:p>
            </p:txBody>
          </p:sp>
          <p:cxnSp>
            <p:nvCxnSpPr>
              <p:cNvPr id="53" name="Straight Arrow Connector 52"/>
              <p:cNvCxnSpPr/>
              <p:nvPr/>
            </p:nvCxnSpPr>
            <p:spPr>
              <a:xfrm flipV="1">
                <a:off x="5611529" y="2649546"/>
                <a:ext cx="408174" cy="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/>
            <p:cNvGrpSpPr/>
            <p:nvPr/>
          </p:nvGrpSpPr>
          <p:grpSpPr>
            <a:xfrm>
              <a:off x="6331224" y="1857911"/>
              <a:ext cx="1228458" cy="276999"/>
              <a:chOff x="5611529" y="2289044"/>
              <a:chExt cx="1228458" cy="276999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019703" y="2289044"/>
                <a:ext cx="8202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Bahnschrift Light" pitchFamily="34" charset="0"/>
                  </a:rPr>
                  <a:t>Alarm</a:t>
                </a:r>
              </a:p>
            </p:txBody>
          </p:sp>
          <p:cxnSp>
            <p:nvCxnSpPr>
              <p:cNvPr id="62" name="Straight Arrow Connector 61"/>
              <p:cNvCxnSpPr/>
              <p:nvPr/>
            </p:nvCxnSpPr>
            <p:spPr>
              <a:xfrm>
                <a:off x="5611529" y="2410046"/>
                <a:ext cx="40817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76719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1165475" y="604610"/>
            <a:ext cx="6858000" cy="3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FLOW CHART</a:t>
            </a:r>
            <a:endParaRPr sz="2400"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grpSp>
        <p:nvGrpSpPr>
          <p:cNvPr id="22" name="Group 21"/>
          <p:cNvGrpSpPr/>
          <p:nvPr/>
        </p:nvGrpSpPr>
        <p:grpSpPr>
          <a:xfrm>
            <a:off x="2250244" y="1180985"/>
            <a:ext cx="1041400" cy="629293"/>
            <a:chOff x="3522133" y="1385765"/>
            <a:chExt cx="1041400" cy="629293"/>
          </a:xfrm>
        </p:grpSpPr>
        <p:sp>
          <p:nvSpPr>
            <p:cNvPr id="7" name="Flowchart: Decision 6"/>
            <p:cNvSpPr/>
            <p:nvPr/>
          </p:nvSpPr>
          <p:spPr>
            <a:xfrm>
              <a:off x="3522133" y="1385765"/>
              <a:ext cx="1041400" cy="62929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661833" y="1546523"/>
              <a:ext cx="76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RESET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756827" y="1153999"/>
            <a:ext cx="1515877" cy="683987"/>
            <a:chOff x="5156200" y="1700396"/>
            <a:chExt cx="2353733" cy="738680"/>
          </a:xfrm>
        </p:grpSpPr>
        <p:sp>
          <p:nvSpPr>
            <p:cNvPr id="20" name="Rectangle 19"/>
            <p:cNvSpPr/>
            <p:nvPr/>
          </p:nvSpPr>
          <p:spPr>
            <a:xfrm>
              <a:off x="5156200" y="1700396"/>
              <a:ext cx="2353733" cy="7386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190067" y="1700412"/>
              <a:ext cx="223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Set Alarm to zero.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Set time to the given input time.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619025" y="3077034"/>
            <a:ext cx="1317004" cy="670266"/>
            <a:chOff x="5274734" y="2853825"/>
            <a:chExt cx="1790209" cy="349736"/>
          </a:xfrm>
        </p:grpSpPr>
        <p:sp>
          <p:nvSpPr>
            <p:cNvPr id="55" name="Rectangle 54"/>
            <p:cNvSpPr/>
            <p:nvPr/>
          </p:nvSpPr>
          <p:spPr>
            <a:xfrm>
              <a:off x="5274734" y="2853825"/>
              <a:ext cx="1790209" cy="3497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308600" y="2853840"/>
              <a:ext cx="1756343" cy="337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Set Alarm clock to the given input time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247437" y="2101866"/>
            <a:ext cx="1041400" cy="629293"/>
            <a:chOff x="3661833" y="2439076"/>
            <a:chExt cx="1041400" cy="629293"/>
          </a:xfrm>
        </p:grpSpPr>
        <p:sp>
          <p:nvSpPr>
            <p:cNvPr id="57" name="Flowchart: Decision 56"/>
            <p:cNvSpPr/>
            <p:nvPr/>
          </p:nvSpPr>
          <p:spPr>
            <a:xfrm>
              <a:off x="3661833" y="2439076"/>
              <a:ext cx="1041400" cy="62929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857226" y="2613546"/>
              <a:ext cx="7938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Clk_1s</a:t>
              </a:r>
            </a:p>
          </p:txBody>
        </p:sp>
      </p:grpSp>
      <p:cxnSp>
        <p:nvCxnSpPr>
          <p:cNvPr id="29" name="Straight Arrow Connector 28"/>
          <p:cNvCxnSpPr/>
          <p:nvPr/>
        </p:nvCxnSpPr>
        <p:spPr>
          <a:xfrm>
            <a:off x="3311925" y="2410974"/>
            <a:ext cx="457200" cy="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2770944" y="1810278"/>
            <a:ext cx="0" cy="274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43391" y="2744858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858999" y="1817028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5" name="Group 74"/>
          <p:cNvGrpSpPr/>
          <p:nvPr/>
        </p:nvGrpSpPr>
        <p:grpSpPr>
          <a:xfrm>
            <a:off x="3756827" y="2101865"/>
            <a:ext cx="1141174" cy="629293"/>
            <a:chOff x="3661833" y="2439076"/>
            <a:chExt cx="1141174" cy="629293"/>
          </a:xfrm>
        </p:grpSpPr>
        <p:sp>
          <p:nvSpPr>
            <p:cNvPr id="77" name="Flowchart: Decision 76"/>
            <p:cNvSpPr/>
            <p:nvPr/>
          </p:nvSpPr>
          <p:spPr>
            <a:xfrm>
              <a:off x="3661833" y="2439076"/>
              <a:ext cx="1041400" cy="62929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763033" y="2599834"/>
              <a:ext cx="10399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LD_alarm</a:t>
              </a:r>
              <a:endPara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79" name="Straight Arrow Connector 78"/>
          <p:cNvCxnSpPr/>
          <p:nvPr/>
        </p:nvCxnSpPr>
        <p:spPr>
          <a:xfrm>
            <a:off x="4279534" y="2692783"/>
            <a:ext cx="0" cy="3657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262863" y="2096335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4815504" y="2406063"/>
            <a:ext cx="457200" cy="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780296" y="2101049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3264876" y="1490090"/>
            <a:ext cx="457200" cy="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215814" y="1175451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5285344" y="2091416"/>
            <a:ext cx="1179674" cy="629293"/>
            <a:chOff x="3661833" y="2439076"/>
            <a:chExt cx="1179674" cy="629293"/>
          </a:xfrm>
        </p:grpSpPr>
        <p:sp>
          <p:nvSpPr>
            <p:cNvPr id="87" name="Flowchart: Decision 86"/>
            <p:cNvSpPr/>
            <p:nvPr/>
          </p:nvSpPr>
          <p:spPr>
            <a:xfrm>
              <a:off x="3661833" y="2439076"/>
              <a:ext cx="1041400" cy="62929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801533" y="2599834"/>
              <a:ext cx="10399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LD_time</a:t>
              </a:r>
              <a:endPara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5861773" y="2777425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0" name="Straight Arrow Connector 89"/>
          <p:cNvCxnSpPr/>
          <p:nvPr/>
        </p:nvCxnSpPr>
        <p:spPr>
          <a:xfrm>
            <a:off x="5797916" y="2725350"/>
            <a:ext cx="0" cy="3657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/>
          <p:cNvGrpSpPr/>
          <p:nvPr/>
        </p:nvGrpSpPr>
        <p:grpSpPr>
          <a:xfrm>
            <a:off x="6831400" y="2120418"/>
            <a:ext cx="1326030" cy="523236"/>
            <a:chOff x="5274734" y="2853824"/>
            <a:chExt cx="1597988" cy="523236"/>
          </a:xfrm>
        </p:grpSpPr>
        <p:sp>
          <p:nvSpPr>
            <p:cNvPr id="92" name="Rectangle 91"/>
            <p:cNvSpPr/>
            <p:nvPr/>
          </p:nvSpPr>
          <p:spPr>
            <a:xfrm>
              <a:off x="5274734" y="2853824"/>
              <a:ext cx="1453107" cy="5232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5308600" y="2853840"/>
              <a:ext cx="156412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Set time to the given input time</a:t>
              </a:r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</a:p>
          </p:txBody>
        </p:sp>
      </p:grpSp>
      <p:cxnSp>
        <p:nvCxnSpPr>
          <p:cNvPr id="94" name="Straight Arrow Connector 93"/>
          <p:cNvCxnSpPr/>
          <p:nvPr/>
        </p:nvCxnSpPr>
        <p:spPr>
          <a:xfrm>
            <a:off x="6334764" y="2406063"/>
            <a:ext cx="457200" cy="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285702" y="2101049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4936029" y="3405260"/>
            <a:ext cx="274320" cy="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5210349" y="2416370"/>
            <a:ext cx="0" cy="1005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>
            <a:off x="5310950" y="3066093"/>
            <a:ext cx="1338417" cy="646331"/>
            <a:chOff x="5274734" y="2808026"/>
            <a:chExt cx="1586465" cy="646331"/>
          </a:xfrm>
        </p:grpSpPr>
        <p:sp>
          <p:nvSpPr>
            <p:cNvPr id="98" name="Rectangle 97"/>
            <p:cNvSpPr/>
            <p:nvPr/>
          </p:nvSpPr>
          <p:spPr>
            <a:xfrm>
              <a:off x="5274734" y="2853824"/>
              <a:ext cx="1453107" cy="6005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297077" y="2808026"/>
              <a:ext cx="15641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Clock operates normally by adding seconds.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7116030" y="3117137"/>
            <a:ext cx="1041400" cy="629293"/>
            <a:chOff x="3661833" y="2439076"/>
            <a:chExt cx="1041400" cy="629293"/>
          </a:xfrm>
        </p:grpSpPr>
        <p:sp>
          <p:nvSpPr>
            <p:cNvPr id="101" name="Flowchart: Decision 100"/>
            <p:cNvSpPr/>
            <p:nvPr/>
          </p:nvSpPr>
          <p:spPr>
            <a:xfrm>
              <a:off x="3661833" y="2439076"/>
              <a:ext cx="1041400" cy="62929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667379" y="2545573"/>
              <a:ext cx="102693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Alarm_time</a:t>
              </a:r>
              <a:r>
                <a:rPr lang="en-US" sz="105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==</a:t>
              </a:r>
            </a:p>
            <a:p>
              <a:pPr algn="ctr"/>
              <a:r>
                <a:rPr lang="en-US" sz="105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real time</a:t>
              </a:r>
            </a:p>
          </p:txBody>
        </p:sp>
      </p:grpSp>
      <p:cxnSp>
        <p:nvCxnSpPr>
          <p:cNvPr id="103" name="Straight Arrow Connector 102"/>
          <p:cNvCxnSpPr/>
          <p:nvPr/>
        </p:nvCxnSpPr>
        <p:spPr>
          <a:xfrm>
            <a:off x="6649367" y="3435418"/>
            <a:ext cx="457200" cy="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627904" y="2666348"/>
            <a:ext cx="0" cy="4114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696191" y="3799372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7" name="Straight Arrow Connector 106"/>
          <p:cNvCxnSpPr/>
          <p:nvPr/>
        </p:nvCxnSpPr>
        <p:spPr>
          <a:xfrm>
            <a:off x="7632334" y="3747297"/>
            <a:ext cx="0" cy="3657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/>
          <p:cNvGrpSpPr/>
          <p:nvPr/>
        </p:nvGrpSpPr>
        <p:grpSpPr>
          <a:xfrm>
            <a:off x="7114649" y="4119984"/>
            <a:ext cx="1179674" cy="629293"/>
            <a:chOff x="3661833" y="2439076"/>
            <a:chExt cx="1179674" cy="629293"/>
          </a:xfrm>
        </p:grpSpPr>
        <p:sp>
          <p:nvSpPr>
            <p:cNvPr id="109" name="Flowchart: Decision 108"/>
            <p:cNvSpPr/>
            <p:nvPr/>
          </p:nvSpPr>
          <p:spPr>
            <a:xfrm>
              <a:off x="3661833" y="2439076"/>
              <a:ext cx="1041400" cy="62929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801533" y="2599834"/>
              <a:ext cx="10399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AL_ON</a:t>
              </a:r>
            </a:p>
          </p:txBody>
        </p:sp>
      </p:grpSp>
      <p:cxnSp>
        <p:nvCxnSpPr>
          <p:cNvPr id="111" name="Straight Arrow Connector 110"/>
          <p:cNvCxnSpPr/>
          <p:nvPr/>
        </p:nvCxnSpPr>
        <p:spPr>
          <a:xfrm flipH="1">
            <a:off x="6630902" y="4435802"/>
            <a:ext cx="457200" cy="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6747514" y="4170718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3" name="Group 112"/>
          <p:cNvGrpSpPr/>
          <p:nvPr/>
        </p:nvGrpSpPr>
        <p:grpSpPr>
          <a:xfrm>
            <a:off x="5662491" y="4174191"/>
            <a:ext cx="989677" cy="523236"/>
            <a:chOff x="5274734" y="2853824"/>
            <a:chExt cx="1159738" cy="523236"/>
          </a:xfrm>
        </p:grpSpPr>
        <p:sp>
          <p:nvSpPr>
            <p:cNvPr id="114" name="Rectangle 113"/>
            <p:cNvSpPr/>
            <p:nvPr/>
          </p:nvSpPr>
          <p:spPr>
            <a:xfrm>
              <a:off x="5274734" y="2853824"/>
              <a:ext cx="1127734" cy="5232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308599" y="2867694"/>
              <a:ext cx="112587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Raise alarm Output</a:t>
              </a:r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4150859" y="4117553"/>
            <a:ext cx="1158408" cy="629293"/>
            <a:chOff x="3661833" y="2439076"/>
            <a:chExt cx="1158408" cy="629293"/>
          </a:xfrm>
        </p:grpSpPr>
        <p:sp>
          <p:nvSpPr>
            <p:cNvPr id="117" name="Flowchart: Decision 116"/>
            <p:cNvSpPr/>
            <p:nvPr/>
          </p:nvSpPr>
          <p:spPr>
            <a:xfrm>
              <a:off x="3661833" y="2439076"/>
              <a:ext cx="1041400" cy="62929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3780267" y="2599834"/>
              <a:ext cx="10399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STOP_al</a:t>
              </a:r>
              <a:endPara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19" name="Straight Arrow Connector 118"/>
          <p:cNvCxnSpPr/>
          <p:nvPr/>
        </p:nvCxnSpPr>
        <p:spPr>
          <a:xfrm flipH="1">
            <a:off x="3667112" y="4433371"/>
            <a:ext cx="457200" cy="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3783724" y="4168287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1" name="Straight Arrow Connector 120"/>
          <p:cNvCxnSpPr/>
          <p:nvPr/>
        </p:nvCxnSpPr>
        <p:spPr>
          <a:xfrm flipH="1">
            <a:off x="5184025" y="4432321"/>
            <a:ext cx="457200" cy="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/>
          <p:cNvGrpSpPr/>
          <p:nvPr/>
        </p:nvGrpSpPr>
        <p:grpSpPr>
          <a:xfrm>
            <a:off x="2540142" y="4157268"/>
            <a:ext cx="1161082" cy="690978"/>
            <a:chOff x="5274734" y="2853824"/>
            <a:chExt cx="1159738" cy="690978"/>
          </a:xfrm>
        </p:grpSpPr>
        <p:sp>
          <p:nvSpPr>
            <p:cNvPr id="123" name="Rectangle 122"/>
            <p:cNvSpPr/>
            <p:nvPr/>
          </p:nvSpPr>
          <p:spPr>
            <a:xfrm>
              <a:off x="5274734" y="2853824"/>
              <a:ext cx="1127734" cy="5232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308599" y="2867694"/>
              <a:ext cx="112587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Lower alarm Output</a:t>
              </a:r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</a:p>
          </p:txBody>
        </p:sp>
      </p:grpSp>
      <p:cxnSp>
        <p:nvCxnSpPr>
          <p:cNvPr id="129" name="Straight Arrow Connector 128"/>
          <p:cNvCxnSpPr/>
          <p:nvPr/>
        </p:nvCxnSpPr>
        <p:spPr>
          <a:xfrm>
            <a:off x="7635809" y="4697427"/>
            <a:ext cx="0" cy="274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 flipH="1">
            <a:off x="4671559" y="4952641"/>
            <a:ext cx="2960602" cy="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 flipV="1">
            <a:off x="4671559" y="4729509"/>
            <a:ext cx="0" cy="223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7759544" y="4710137"/>
            <a:ext cx="555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91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ctrTitle" idx="4294967295"/>
          </p:nvPr>
        </p:nvSpPr>
        <p:spPr>
          <a:xfrm>
            <a:off x="1548619" y="1791516"/>
            <a:ext cx="6671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chemeClr val="dk1"/>
                </a:solidFill>
              </a:rPr>
              <a:t>VERILOG CODE</a:t>
            </a:r>
            <a:endParaRPr sz="4000" b="1" dirty="0">
              <a:solidFill>
                <a:schemeClr val="dk1"/>
              </a:solidFill>
            </a:endParaRPr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501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5977" y="3238094"/>
            <a:ext cx="73976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function [3:0] mod_10;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input [5:0] number;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mod_10 = (number &gt;=50) ? 5 : ((number &gt;= 40)? 4 :((number &gt;= 30)? 3 :((number &gt;= 20)? 2 :((number &gt;= 10)? 1 :0))));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  <a:p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endfunction</a:t>
            </a:r>
            <a:endParaRPr lang="en-US" sz="11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763298" y="623992"/>
            <a:ext cx="4726431" cy="2246769"/>
            <a:chOff x="1146531" y="392989"/>
            <a:chExt cx="4726431" cy="2246769"/>
          </a:xfrm>
        </p:grpSpPr>
        <p:sp>
          <p:nvSpPr>
            <p:cNvPr id="2" name="TextBox 1"/>
            <p:cNvSpPr txBox="1"/>
            <p:nvPr/>
          </p:nvSpPr>
          <p:spPr>
            <a:xfrm>
              <a:off x="1146531" y="392989"/>
              <a:ext cx="2999233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module </a:t>
              </a:r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Aclock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(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input reset,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input </a:t>
              </a:r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clk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input [1:0] H_in1,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input [3:0] H_in0,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input [3:0] M_in1,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input [3:0] M_in0,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input </a:t>
              </a:r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LD_time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input   </a:t>
              </a:r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LD_alarm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input   </a:t>
              </a:r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STOP_al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input   AL_ON,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output </a:t>
              </a:r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reg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 Alarm,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output [1:0]  H_out1,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output [3:0]  H_out0,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73729" y="392989"/>
              <a:ext cx="2999233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output [3:0]  M_out1,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output [3:0]  M_out0,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output [3:0]  S_out1,</a:t>
              </a:r>
            </a:p>
            <a:p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output [3:0]  S_out0);</a:t>
              </a:r>
            </a:p>
            <a:p>
              <a:endParaRPr lang="en-US" sz="1000" dirty="0">
                <a:solidFill>
                  <a:schemeClr val="bg1"/>
                </a:solidFill>
                <a:latin typeface="Bahnschrift Light" pitchFamily="34" charset="0"/>
              </a:endParaRPr>
            </a:p>
            <a:p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reg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 clk_1s;</a:t>
              </a:r>
            </a:p>
            <a:p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reg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 [3:0] tmp_1s;</a:t>
              </a:r>
            </a:p>
            <a:p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reg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 [5:0] </a:t>
              </a:r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tmp_hour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, </a:t>
              </a:r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tmp_minute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, </a:t>
              </a:r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tmp_second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;</a:t>
              </a:r>
            </a:p>
            <a:p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reg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 [1:0] c_hour1,a_hour1;</a:t>
              </a:r>
            </a:p>
            <a:p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reg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 [3:0] c_hour0,a_hour0;</a:t>
              </a:r>
            </a:p>
            <a:p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reg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 [3:0] c_min1,a_min1;</a:t>
              </a:r>
            </a:p>
            <a:p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reg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 [3:0] c_min0,a_min0;</a:t>
              </a:r>
            </a:p>
            <a:p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reg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 [3:0] c_sec1,a_sec1;</a:t>
              </a:r>
            </a:p>
            <a:p>
              <a:r>
                <a:rPr lang="en-US" sz="1000" dirty="0" err="1">
                  <a:solidFill>
                    <a:schemeClr val="bg1"/>
                  </a:solidFill>
                  <a:latin typeface="Bahnschrift Light" pitchFamily="34" charset="0"/>
                </a:rPr>
                <a:t>reg</a:t>
              </a:r>
              <a:r>
                <a:rPr lang="en-US" sz="1000" dirty="0">
                  <a:solidFill>
                    <a:schemeClr val="bg1"/>
                  </a:solidFill>
                  <a:latin typeface="Bahnschrift Light" pitchFamily="34" charset="0"/>
                </a:rPr>
                <a:t> [3:0] c_sec0,a_sec0;</a:t>
              </a:r>
            </a:p>
          </p:txBody>
        </p:sp>
      </p:grpSp>
      <p:sp>
        <p:nvSpPr>
          <p:cNvPr id="3" name="Right Brace 2"/>
          <p:cNvSpPr/>
          <p:nvPr/>
        </p:nvSpPr>
        <p:spPr>
          <a:xfrm>
            <a:off x="6790266" y="623990"/>
            <a:ext cx="313268" cy="2246769"/>
          </a:xfrm>
          <a:prstGeom prst="rightBrace">
            <a:avLst>
              <a:gd name="adj1" fmla="val 8333"/>
              <a:gd name="adj2" fmla="val 5036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30533" y="1593485"/>
            <a:ext cx="1202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Initialization</a:t>
            </a:r>
          </a:p>
        </p:txBody>
      </p:sp>
      <p:sp>
        <p:nvSpPr>
          <p:cNvPr id="10" name="Right Brace 9"/>
          <p:cNvSpPr/>
          <p:nvPr/>
        </p:nvSpPr>
        <p:spPr>
          <a:xfrm>
            <a:off x="8021075" y="3292886"/>
            <a:ext cx="313268" cy="1075917"/>
          </a:xfrm>
          <a:prstGeom prst="rightBrace">
            <a:avLst>
              <a:gd name="adj1" fmla="val 8333"/>
              <a:gd name="adj2" fmla="val 5036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34343" y="3676955"/>
            <a:ext cx="1202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 10 function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5" name="TextBox 4"/>
          <p:cNvSpPr txBox="1"/>
          <p:nvPr/>
        </p:nvSpPr>
        <p:spPr>
          <a:xfrm>
            <a:off x="1689557" y="544946"/>
            <a:ext cx="28439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always @(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posedge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clk_1s or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posedge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reset )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if(reset)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a_hour1 &lt;= 2'b00;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a_hour0 &lt;= 4'b0000;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a_min1 &lt;= 4'b0000;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a_min0 &lt;= 4'b0000;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a_sec1 &lt;= 4'b0000;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a_sec0 &lt;= 4'b0000;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tmp_hour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H_in1*10 + H_in0;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tmp_minute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M_in1*10 + M_in0;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tmp_second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else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LD_alarm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)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a_hour1 &lt;= H_in1;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a_hour0 &lt;= H_in0;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a_min1 &lt;= M_in1;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a_min0 &lt;= M_in0;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a_sec1 &lt;= 4'b0000;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a_sec0 &lt;= 4'b0000;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3488" y="544946"/>
            <a:ext cx="2468446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if(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LD_time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) begin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tmp_hour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H_in1*10 + H_in0;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tmp_minute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M_in1*10 + M_in0;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tmp_second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else begin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tmp_second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tmp_second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+ 1;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tmp_second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&gt;=59) begin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tmp_minute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tmp_minute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+ 1;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tmp_second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tmp_minute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&gt;=59) begin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tmp_minute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tmp_hour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tmp_hour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+ 1;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tmp_hour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&gt;= 24) begin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tmp_hour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&lt;= 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 </a:t>
            </a:r>
          </a:p>
          <a:p>
            <a:endParaRPr lang="en-US" sz="1600" dirty="0"/>
          </a:p>
        </p:txBody>
      </p:sp>
      <p:sp>
        <p:nvSpPr>
          <p:cNvPr id="7" name="Right Brace 6"/>
          <p:cNvSpPr/>
          <p:nvPr/>
        </p:nvSpPr>
        <p:spPr>
          <a:xfrm>
            <a:off x="7411475" y="544947"/>
            <a:ext cx="313268" cy="3798453"/>
          </a:xfrm>
          <a:prstGeom prst="rightBrace">
            <a:avLst>
              <a:gd name="adj1" fmla="val 8333"/>
              <a:gd name="adj2" fmla="val 5036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34809" y="2089949"/>
            <a:ext cx="1202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Loading and incrementing time </a:t>
            </a:r>
          </a:p>
        </p:txBody>
      </p:sp>
    </p:spTree>
    <p:extLst>
      <p:ext uri="{BB962C8B-B14F-4D97-AF65-F5344CB8AC3E}">
        <p14:creationId xmlns:p14="http://schemas.microsoft.com/office/powerpoint/2010/main" val="424932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5" name="TextBox 4"/>
          <p:cNvSpPr txBox="1"/>
          <p:nvPr/>
        </p:nvSpPr>
        <p:spPr>
          <a:xfrm>
            <a:off x="1106908" y="231082"/>
            <a:ext cx="269509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always @(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posedge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clk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or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posedge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reset)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if(reset)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tmp_1s &lt;= 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clk_1s &lt;= 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else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tmp_1s &lt;= tmp_1s + 1;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if(tmp_1s &lt;= 5)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clk_1s &lt;= 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else if (tmp_1s &gt;= 10)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clk_1s &lt;= 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tmp_1s &lt;= 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else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clk_1s &lt;= 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83465" y="231082"/>
            <a:ext cx="24255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always @(*) begin</a:t>
            </a:r>
          </a:p>
          <a:p>
            <a:endParaRPr lang="en-US" sz="1100" dirty="0">
              <a:solidFill>
                <a:schemeClr val="bg1"/>
              </a:solidFill>
              <a:latin typeface="Bahnschrift Light" pitchFamily="34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tmp_hour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&gt;=20)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c_hour1 = 2;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else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tmp_hour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&gt;=10)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c_hour1  = 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else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c_hour1 = 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c_hour0 =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tmp_hour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- c_hour1*10;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c_min1 = mod_10(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tmp_minute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);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c_min0 =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tmp_minute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- c_min1*10;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c_sec1 = mod_10(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tmp_second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);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c_sec0 =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tmp_second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- c_sec1*10;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  <a:p>
            <a:endParaRPr lang="en-US" sz="1100" dirty="0">
              <a:solidFill>
                <a:schemeClr val="bg1"/>
              </a:solidFill>
              <a:latin typeface="Bahnschrift Light" pitchFamily="34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assign H_out1 = c_hour1;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assign H_out0 = c_hour0;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assign M_out1 = c_min1;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assign M_out0 = c_min0;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assign S_out1 = c_sec1;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assign S_out0 = c_sec0;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9881" y="259968"/>
            <a:ext cx="246736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always @(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posedge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clk_1s or 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posedge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reset)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if(reset)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Alarm &lt;=0;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else begin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if({a_hour1,a_hour0,a_min1,a_min0,a_sec1,a_sec0}=={c_hour1,c_hour0,c_min1,c_min0,c_sec1,c_sec0})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begin / if(AL_ON) Alarm &lt;= 1;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if(</a:t>
            </a:r>
            <a:r>
              <a:rPr lang="en-US" sz="1100" dirty="0" err="1">
                <a:solidFill>
                  <a:schemeClr val="bg1"/>
                </a:solidFill>
                <a:latin typeface="Bahnschrift Light" pitchFamily="34" charset="0"/>
              </a:rPr>
              <a:t>STOP_al</a:t>
            </a:r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)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Alarm &lt;=0; 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  <a:p>
            <a:r>
              <a:rPr lang="en-US" sz="1100" dirty="0">
                <a:solidFill>
                  <a:schemeClr val="bg1"/>
                </a:solidFill>
                <a:latin typeface="Bahnschrift Light" pitchFamily="34" charset="0"/>
              </a:rPr>
              <a:t> end</a:t>
            </a:r>
          </a:p>
        </p:txBody>
      </p:sp>
      <p:sp>
        <p:nvSpPr>
          <p:cNvPr id="10" name="Right Brace 9"/>
          <p:cNvSpPr/>
          <p:nvPr/>
        </p:nvSpPr>
        <p:spPr>
          <a:xfrm rot="5400000">
            <a:off x="1977961" y="3033333"/>
            <a:ext cx="313268" cy="1847726"/>
          </a:xfrm>
          <a:prstGeom prst="rightBrace">
            <a:avLst>
              <a:gd name="adj1" fmla="val 8333"/>
              <a:gd name="adj2" fmla="val 5036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060" y="4224123"/>
            <a:ext cx="1524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Make 1s clock</a:t>
            </a:r>
          </a:p>
        </p:txBody>
      </p:sp>
      <p:sp>
        <p:nvSpPr>
          <p:cNvPr id="12" name="Right Brace 11"/>
          <p:cNvSpPr/>
          <p:nvPr/>
        </p:nvSpPr>
        <p:spPr>
          <a:xfrm rot="5400000">
            <a:off x="4532126" y="3488780"/>
            <a:ext cx="313268" cy="2044458"/>
          </a:xfrm>
          <a:prstGeom prst="rightBrace">
            <a:avLst>
              <a:gd name="adj1" fmla="val 8333"/>
              <a:gd name="adj2" fmla="val 5036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85992" y="4744065"/>
            <a:ext cx="1190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Output time</a:t>
            </a:r>
          </a:p>
        </p:txBody>
      </p:sp>
      <p:sp>
        <p:nvSpPr>
          <p:cNvPr id="14" name="Right Brace 13"/>
          <p:cNvSpPr/>
          <p:nvPr/>
        </p:nvSpPr>
        <p:spPr>
          <a:xfrm rot="5400000">
            <a:off x="7266859" y="2240010"/>
            <a:ext cx="313268" cy="2044458"/>
          </a:xfrm>
          <a:prstGeom prst="rightBrace">
            <a:avLst>
              <a:gd name="adj1" fmla="val 8333"/>
              <a:gd name="adj2" fmla="val 5036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20725" y="3495295"/>
            <a:ext cx="1461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Setting and disabling alarm</a:t>
            </a:r>
          </a:p>
        </p:txBody>
      </p:sp>
    </p:spTree>
    <p:extLst>
      <p:ext uri="{BB962C8B-B14F-4D97-AF65-F5344CB8AC3E}">
        <p14:creationId xmlns:p14="http://schemas.microsoft.com/office/powerpoint/2010/main" val="370690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ctrTitle" idx="4294967295"/>
          </p:nvPr>
        </p:nvSpPr>
        <p:spPr>
          <a:xfrm>
            <a:off x="1548619" y="1791516"/>
            <a:ext cx="6671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chemeClr val="dk1"/>
                </a:solidFill>
              </a:rPr>
              <a:t>SIMULATION OUTPUT</a:t>
            </a:r>
            <a:endParaRPr sz="4000" b="1" dirty="0">
              <a:solidFill>
                <a:schemeClr val="dk1"/>
              </a:solidFill>
            </a:endParaRPr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0946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923925"/>
            <a:ext cx="8858250" cy="329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5" name="TextBox 4"/>
          <p:cNvSpPr txBox="1"/>
          <p:nvPr/>
        </p:nvSpPr>
        <p:spPr>
          <a:xfrm>
            <a:off x="2105888" y="4405751"/>
            <a:ext cx="7273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reset=1</a:t>
            </a: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2424545" y="834390"/>
            <a:ext cx="20782" cy="347472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39288" y="4658472"/>
            <a:ext cx="9975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LD_alarm</a:t>
            </a:r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=1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3041072" y="840986"/>
            <a:ext cx="20782" cy="347472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562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904875"/>
            <a:ext cx="8877300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488871" y="4274946"/>
            <a:ext cx="879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Alarm = 1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4807528" y="703585"/>
            <a:ext cx="20782" cy="347472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60811" y="4486105"/>
            <a:ext cx="9975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STOP_al</a:t>
            </a:r>
            <a:r>
              <a:rPr lang="en-US" sz="11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1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5562595" y="710181"/>
            <a:ext cx="20782" cy="347472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48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ctrTitle" idx="4294967295"/>
          </p:nvPr>
        </p:nvSpPr>
        <p:spPr>
          <a:xfrm>
            <a:off x="1548619" y="1791516"/>
            <a:ext cx="6671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chemeClr val="dk1"/>
                </a:solidFill>
              </a:rPr>
              <a:t>THANK YOU!</a:t>
            </a:r>
            <a:endParaRPr sz="4000" b="1" dirty="0">
              <a:solidFill>
                <a:schemeClr val="dk1"/>
              </a:solidFill>
            </a:endParaRPr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5914955"/>
      </p:ext>
    </p:extLst>
  </p:cSld>
  <p:clrMapOvr>
    <a:masterClrMapping/>
  </p:clrMapOvr>
</p:sld>
</file>

<file path=ppt/theme/theme1.xml><?xml version="1.0" encoding="utf-8"?>
<a:theme xmlns:a="http://schemas.openxmlformats.org/drawingml/2006/main" name="Eleanor template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1171</Words>
  <Application>Microsoft Office PowerPoint</Application>
  <PresentationFormat>On-screen Show (16:9)</PresentationFormat>
  <Paragraphs>214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Quicksand</vt:lpstr>
      <vt:lpstr>Wingdings</vt:lpstr>
      <vt:lpstr>Times New Roman</vt:lpstr>
      <vt:lpstr>Calibri</vt:lpstr>
      <vt:lpstr>Arial</vt:lpstr>
      <vt:lpstr>Bahnschrift Light</vt:lpstr>
      <vt:lpstr>Eleanor template</vt:lpstr>
      <vt:lpstr>CLOCK GENERATOR WITH ALARM</vt:lpstr>
      <vt:lpstr>FEATURES</vt:lpstr>
      <vt:lpstr>BLOCK DIAGRAM</vt:lpstr>
      <vt:lpstr>FLOW CHART</vt:lpstr>
      <vt:lpstr>VERILOG CODE</vt:lpstr>
      <vt:lpstr>PowerPoint Presentation</vt:lpstr>
      <vt:lpstr>PowerPoint Presentation</vt:lpstr>
      <vt:lpstr>PowerPoint Presentation</vt:lpstr>
      <vt:lpstr>SIMULATION OUTPUT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SYSTEMATIC PARKING WITH SECURITY</dc:title>
  <dc:creator>Nandini Sharma</dc:creator>
  <cp:lastModifiedBy>Piyush Padmakar</cp:lastModifiedBy>
  <cp:revision>29</cp:revision>
  <dcterms:modified xsi:type="dcterms:W3CDTF">2025-09-16T08:46:56Z</dcterms:modified>
</cp:coreProperties>
</file>